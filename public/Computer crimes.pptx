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98" r:id="rId5"/>
    <p:sldId id="283" r:id="rId6"/>
    <p:sldId id="297" r:id="rId7"/>
    <p:sldId id="299" r:id="rId8"/>
    <p:sldId id="284" r:id="rId9"/>
    <p:sldId id="29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12" autoAdjust="0"/>
  </p:normalViewPr>
  <p:slideViewPr>
    <p:cSldViewPr snapToGrid="0">
      <p:cViewPr varScale="1">
        <p:scale>
          <a:sx n="71" d="100"/>
          <a:sy n="71" d="100"/>
        </p:scale>
        <p:origin x="54" y="228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4/12/2026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er Slid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=""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mparison Left Placeholder 2">
            <a:extLst>
              <a:ext uri="{FF2B5EF4-FFF2-40B4-BE49-F238E27FC236}">
                <a16:creationId xmlns=""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=""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="" xmlns:a16="http://schemas.microsoft.com/office/drawing/2014/main" id="{BBC0CAF5-0DE6-4BEA-824E-124A54A76A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="" xmlns:a16="http://schemas.microsoft.com/office/drawing/2014/main" id="{ED008080-B2F5-441A-8B15-30AE86BBF9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=""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=""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=""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=""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Text Placeholder 4">
            <a:extLst>
              <a:ext uri="{FF2B5EF4-FFF2-40B4-BE49-F238E27FC236}">
                <a16:creationId xmlns=""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1" name="Text Placeholder 5">
            <a:extLst>
              <a:ext uri="{FF2B5EF4-FFF2-40B4-BE49-F238E27FC236}">
                <a16:creationId xmlns=""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5">
            <a:extLst>
              <a:ext uri="{FF2B5EF4-FFF2-40B4-BE49-F238E27FC236}">
                <a16:creationId xmlns=""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=""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=""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="" xmlns:a16="http://schemas.microsoft.com/office/drawing/2014/main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="" xmlns:a16="http://schemas.microsoft.com/office/drawing/2014/main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="" xmlns:a16="http://schemas.microsoft.com/office/drawing/2014/main" id="{48A1A904-FE62-4BE3-BAE9-0EEAE7B1E3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="" xmlns:a16="http://schemas.microsoft.com/office/drawing/2014/main" id="{3E8A46E0-47C2-4441-B7DD-F621A80F1F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=""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=""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8" name="Content Placeholder 3">
            <a:extLst>
              <a:ext uri="{FF2B5EF4-FFF2-40B4-BE49-F238E27FC236}">
                <a16:creationId xmlns=""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="" xmlns:a16="http://schemas.microsoft.com/office/drawing/2014/main" id="{48A1A904-FE62-4BE3-BAE9-0EEAE7B1E3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3">
            <a:extLst>
              <a:ext uri="{FF2B5EF4-FFF2-40B4-BE49-F238E27FC236}">
                <a16:creationId xmlns="" xmlns:a16="http://schemas.microsoft.com/office/drawing/2014/main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="" xmlns:a16="http://schemas.microsoft.com/office/drawing/2014/main" id="{48A1A904-FE62-4BE3-BAE9-0EEAE7B1E3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="" xmlns:a16="http://schemas.microsoft.com/office/drawing/2014/main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="" xmlns:a16="http://schemas.microsoft.com/office/drawing/2014/main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=""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>
              <a:lnSpc>
                <a:spcPts val="1000"/>
              </a:lnSpc>
            </a:pPr>
            <a:r>
              <a:rPr lang="en-US" sz="2500" b="1" i="0" spc="-100" baseline="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n-US" sz="1200" b="0" i="0" spc="14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3" r:id="rId18"/>
    <p:sldLayoutId id="2147483674" r:id="rId19"/>
    <p:sldLayoutId id="2147483654" r:id="rId20"/>
    <p:sldLayoutId id="2147483655" r:id="rId21"/>
    <p:sldLayoutId id="2147483675" r:id="rId22"/>
    <p:sldLayoutId id="2147483672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=""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21023"/>
            <a:ext cx="9780588" cy="6804025"/>
          </a:xfrm>
        </p:spPr>
      </p:pic>
      <p:sp>
        <p:nvSpPr>
          <p:cNvPr id="3" name="Title 2">
            <a:extLst>
              <a:ext uri="{FF2B5EF4-FFF2-40B4-BE49-F238E27FC236}">
                <a16:creationId xmlns=""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/>
          <a:lstStyle/>
          <a:p>
            <a:r>
              <a:rPr lang="en-US" sz="4000" dirty="0"/>
              <a:t>Computer Crimes </a:t>
            </a:r>
            <a:endParaRPr lang="en-US" sz="4000" dirty="0"/>
          </a:p>
        </p:txBody>
      </p:sp>
      <p:sp>
        <p:nvSpPr>
          <p:cNvPr id="4" name="Subtitle 3">
            <a:extLst>
              <a:ext uri="{FF2B5EF4-FFF2-40B4-BE49-F238E27FC236}">
                <a16:creationId xmlns=""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72348"/>
            <a:ext cx="8991600" cy="580921"/>
          </a:xfrm>
        </p:spPr>
        <p:txBody>
          <a:bodyPr/>
          <a:lstStyle/>
          <a:p>
            <a:r>
              <a:rPr lang="en-US" b="1" dirty="0"/>
              <a:t>Prepared by:</a:t>
            </a:r>
            <a:r>
              <a:rPr lang="en-US" dirty="0"/>
              <a:t> </a:t>
            </a:r>
            <a:r>
              <a:rPr lang="en-US" dirty="0" err="1" smtClean="0"/>
              <a:t>Asmaa</a:t>
            </a:r>
            <a:r>
              <a:rPr lang="en-US" dirty="0" smtClean="0"/>
              <a:t> </a:t>
            </a:r>
            <a:r>
              <a:rPr lang="en-US" dirty="0" err="1" smtClean="0"/>
              <a:t>Bibi</a:t>
            </a:r>
            <a:endParaRPr lang="en-US" dirty="0" smtClean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1000" y="3045204"/>
            <a:ext cx="5472000" cy="2999426"/>
          </a:xfrm>
        </p:spPr>
        <p:txBody>
          <a:bodyPr anchor="ctr"/>
          <a:lstStyle/>
          <a:p>
            <a:pPr marL="0" indent="0">
              <a:buNone/>
            </a:pPr>
            <a:r>
              <a:rPr lang="en-US" sz="1600" b="1" dirty="0" smtClean="0"/>
              <a:t>What are Computer Crimes?</a:t>
            </a:r>
            <a:endParaRPr lang="en-US" sz="1600" b="1" dirty="0"/>
          </a:p>
          <a:p>
            <a:r>
              <a:rPr lang="en-US" sz="1600" dirty="0"/>
              <a:t>Computer crimes are illegal activities done using computers, mobile phones, or the internet, especially in workplaces or professional </a:t>
            </a:r>
            <a:r>
              <a:rPr lang="en-US" sz="1600" dirty="0" smtClean="0"/>
              <a:t>environments.</a:t>
            </a:r>
          </a:p>
          <a:p>
            <a:r>
              <a:rPr lang="en-US" sz="1600" dirty="0" smtClean="0"/>
              <a:t>Computer </a:t>
            </a:r>
            <a:r>
              <a:rPr lang="en-US" sz="1600" dirty="0"/>
              <a:t>crimes are </a:t>
            </a:r>
            <a:r>
              <a:rPr lang="en-US" sz="1600" b="1" dirty="0"/>
              <a:t>unauthorized digital actions</a:t>
            </a:r>
            <a:r>
              <a:rPr lang="en-US" sz="1600" dirty="0"/>
              <a:t> that </a:t>
            </a:r>
            <a:r>
              <a:rPr lang="en-US" sz="1600" dirty="0" smtClean="0"/>
              <a:t>     misuse </a:t>
            </a:r>
            <a:r>
              <a:rPr lang="en-US" sz="1600" dirty="0"/>
              <a:t>technology to harm, steal, or disrupt data </a:t>
            </a:r>
            <a:r>
              <a:rPr lang="en-US" sz="1600" dirty="0" smtClean="0"/>
              <a:t>and </a:t>
            </a:r>
            <a:r>
              <a:rPr lang="en-US" sz="1600" dirty="0"/>
              <a:t>systems.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2800" dirty="0" smtClean="0"/>
          </a:p>
        </p:txBody>
      </p:sp>
      <p:pic>
        <p:nvPicPr>
          <p:cNvPr id="9" name="Picture Placeholder 8" descr="Handing touching mobile phone">
            <a:extLst>
              <a:ext uri="{FF2B5EF4-FFF2-40B4-BE49-F238E27FC236}">
                <a16:creationId xmlns=""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EFA08948-2B6F-46B1-9D2D-8D7B2B3FBD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1800" y="3688075"/>
            <a:ext cx="4648200" cy="1099824"/>
          </a:xfrm>
        </p:spPr>
        <p:txBody>
          <a:bodyPr/>
          <a:lstStyle/>
          <a:p>
            <a:r>
              <a:rPr lang="en-US" dirty="0"/>
              <a:t>Vision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body" sz="quarter" idx="32"/>
          </p:nvPr>
        </p:nvSpPr>
        <p:spPr bwMode="auto">
          <a:xfrm>
            <a:off x="6096000" y="4907635"/>
            <a:ext cx="620805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chemeClr val="tx1"/>
                </a:solidFill>
              </a:rPr>
              <a:t>. They </a:t>
            </a:r>
            <a:r>
              <a:rPr lang="en-US" b="1" dirty="0">
                <a:solidFill>
                  <a:schemeClr val="tx1"/>
                </a:solidFill>
              </a:rPr>
              <a:t>usually happen in workplaces or online systems.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 smtClean="0">
                <a:solidFill>
                  <a:schemeClr val="tx1"/>
                </a:solidFill>
              </a:rPr>
              <a:t>. These </a:t>
            </a:r>
            <a:r>
              <a:rPr lang="en-US" b="1" dirty="0">
                <a:solidFill>
                  <a:schemeClr val="tx1"/>
                </a:solidFill>
              </a:rPr>
              <a:t>crimes break laws and professional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Hand writing on post-it note">
            <a:extLst>
              <a:ext uri="{FF2B5EF4-FFF2-40B4-BE49-F238E27FC236}">
                <a16:creationId xmlns=""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EFA08948-2B6F-46B1-9D2D-8D7B2B3FBD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Cybercrime (computer-based illegal activity)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Computer </a:t>
            </a:r>
            <a:r>
              <a:rPr lang="en-US" dirty="0"/>
              <a:t>crimes are done to </a:t>
            </a:r>
            <a:r>
              <a:rPr lang="en-US" b="1" dirty="0"/>
              <a:t>gain money, steal data, or damage systems</a:t>
            </a:r>
            <a:r>
              <a:rPr lang="en-US" dirty="0"/>
              <a:t> using computers or the </a:t>
            </a:r>
            <a:r>
              <a:rPr lang="en-US" dirty="0" smtClean="0"/>
              <a:t>internet.</a:t>
            </a:r>
          </a:p>
          <a:p>
            <a:r>
              <a:rPr lang="en-US" dirty="0" smtClean="0"/>
              <a:t>Some </a:t>
            </a:r>
            <a:r>
              <a:rPr lang="en-US" dirty="0"/>
              <a:t>people also do it to </a:t>
            </a:r>
            <a:r>
              <a:rPr lang="en-US" b="1" dirty="0"/>
              <a:t>spy on others or get personal benefits </a:t>
            </a:r>
            <a:r>
              <a:rPr lang="en-US" b="1" dirty="0" smtClean="0"/>
              <a:t>illegally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main purpose is always </a:t>
            </a:r>
            <a:r>
              <a:rPr lang="en-US" b="1" dirty="0"/>
              <a:t>unauthorized advantage or harm</a:t>
            </a:r>
            <a:r>
              <a:rPr lang="en-US" dirty="0"/>
              <a:t>.</a:t>
            </a:r>
          </a:p>
          <a:p>
            <a:endParaRPr lang="en-US" dirty="0" smtClean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Purpose: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39" r="15839"/>
          <a:stretch>
            <a:fillRect/>
          </a:stretch>
        </p:blipFill>
        <p:spPr>
          <a:xfrm>
            <a:off x="-65511" y="295061"/>
            <a:ext cx="6161511" cy="6439821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smtClean="0"/>
              <a:t>Add a 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4</a:t>
            </a:fld>
            <a:endParaRPr lang="en-US" noProof="0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15449416"/>
              </p:ext>
            </p:extLst>
          </p:nvPr>
        </p:nvGraphicFramePr>
        <p:xfrm>
          <a:off x="6266330" y="2994139"/>
          <a:ext cx="5493871" cy="6809558"/>
        </p:xfrm>
        <a:graphic>
          <a:graphicData uri="http://schemas.openxmlformats.org/drawingml/2006/table">
            <a:tbl>
              <a:tblPr/>
              <a:tblGrid>
                <a:gridCol w="2757815"/>
                <a:gridCol w="2736056"/>
              </a:tblGrid>
              <a:tr h="3541132">
                <a:tc>
                  <a:txBody>
                    <a:bodyPr/>
                    <a:lstStyle/>
                    <a:p>
                      <a:r>
                        <a:rPr lang="en-US" b="1" dirty="0" smtClean="0"/>
                        <a:t>Key Points of Computer Crimes</a:t>
                      </a:r>
                    </a:p>
                    <a:p>
                      <a:r>
                        <a:rPr lang="en-US" sz="1600" dirty="0" smtClean="0"/>
                        <a:t>.Done using computers, mobile phones, or internet.</a:t>
                      </a:r>
                    </a:p>
                    <a:p>
                      <a:r>
                        <a:rPr lang="en-US" sz="1600" dirty="0" smtClean="0"/>
                        <a:t>.Involves illegal or unauthorized activities.</a:t>
                      </a:r>
                    </a:p>
                    <a:p>
                      <a:r>
                        <a:rPr lang="en-US" sz="1600" dirty="0" smtClean="0"/>
                        <a:t>.Targets data, systems, or personal information.</a:t>
                      </a:r>
                    </a:p>
                    <a:p>
                      <a:r>
                        <a:rPr lang="en-US" sz="1600" dirty="0" smtClean="0"/>
                        <a:t>.Can cause financial and security loss.</a:t>
                      </a:r>
                    </a:p>
                    <a:p>
                      <a:r>
                        <a:rPr lang="en-US" sz="1600" dirty="0" smtClean="0"/>
                        <a:t>.Breaks laws and professional ethics. </a:t>
                      </a:r>
                    </a:p>
                    <a:p>
                      <a:r>
                        <a:rPr lang="en-US" sz="1600" dirty="0" smtClean="0"/>
                        <a:t>. Affects individuals, companies, and governments </a:t>
                      </a:r>
                    </a:p>
                    <a:p>
                      <a:endParaRPr lang="en-US" dirty="0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40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40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40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540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44170" marR="44170" marT="22085" marB="22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15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Examples: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42934"/>
            <a:ext cx="5472000" cy="360000"/>
          </a:xfrm>
        </p:spPr>
        <p:txBody>
          <a:bodyPr/>
          <a:lstStyle/>
          <a:p>
            <a:r>
              <a:rPr lang="en-US" dirty="0"/>
              <a:t>Social Media Hacking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02234"/>
            <a:ext cx="5472000" cy="2343228"/>
          </a:xfrm>
        </p:spPr>
        <p:txBody>
          <a:bodyPr/>
          <a:lstStyle/>
          <a:p>
            <a:r>
              <a:rPr lang="en-US" dirty="0" smtClean="0"/>
              <a:t>Someone </a:t>
            </a:r>
            <a:r>
              <a:rPr lang="en-US" dirty="0"/>
              <a:t>hacks a Facebook or </a:t>
            </a:r>
            <a:r>
              <a:rPr lang="en-US" dirty="0" err="1"/>
              <a:t>Instagram</a:t>
            </a:r>
            <a:r>
              <a:rPr lang="en-US" dirty="0"/>
              <a:t> account without permission.</a:t>
            </a:r>
            <a:br>
              <a:rPr lang="en-US" dirty="0"/>
            </a:br>
            <a:r>
              <a:rPr lang="en-US" dirty="0"/>
              <a:t>They use it to send fake messages or scam friends.</a:t>
            </a:r>
          </a:p>
          <a:p>
            <a:pPr marL="0" indent="0">
              <a:buNone/>
            </a:pPr>
            <a:r>
              <a:rPr lang="en-US" sz="2400" b="1" dirty="0"/>
              <a:t>Online Banking Fraud</a:t>
            </a:r>
          </a:p>
          <a:p>
            <a:r>
              <a:rPr lang="en-US" dirty="0"/>
              <a:t>Hackers send fake SMS or emails to steal bank login details.</a:t>
            </a:r>
            <a:br>
              <a:rPr lang="en-US" dirty="0"/>
            </a:br>
            <a:r>
              <a:rPr lang="en-US" dirty="0"/>
              <a:t>People lose money when they enter information on fake websites.</a:t>
            </a:r>
          </a:p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5A563457-1EC8-4978-BCCB-AFD88C9ED0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A7CD04AE-9A8B-4DED-855D-F51B510D0B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/>
          <a:lstStyle/>
          <a:p>
            <a:r>
              <a:rPr lang="en-US" dirty="0"/>
              <a:t>Data Theft in Companies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947459"/>
            <a:ext cx="5472113" cy="2196041"/>
          </a:xfrm>
        </p:spPr>
        <p:txBody>
          <a:bodyPr/>
          <a:lstStyle/>
          <a:p>
            <a:r>
              <a:rPr lang="en-US" dirty="0" smtClean="0"/>
              <a:t>Employees </a:t>
            </a:r>
            <a:r>
              <a:rPr lang="en-US" dirty="0"/>
              <a:t>or hackers steal company data like customer records.</a:t>
            </a:r>
            <a:br>
              <a:rPr lang="en-US" dirty="0"/>
            </a:br>
            <a:r>
              <a:rPr lang="en-US" dirty="0"/>
              <a:t>They may sell it to other companies for money.</a:t>
            </a:r>
          </a:p>
          <a:p>
            <a:pPr marL="0" indent="0">
              <a:buNone/>
            </a:pPr>
            <a:r>
              <a:rPr lang="en-US" sz="2400" b="1" dirty="0"/>
              <a:t>Software Piracy</a:t>
            </a:r>
          </a:p>
          <a:p>
            <a:r>
              <a:rPr lang="en-US" dirty="0"/>
              <a:t>People download paid software or movies illegally from websites.</a:t>
            </a:r>
            <a:br>
              <a:rPr lang="en-US" dirty="0"/>
            </a:br>
            <a:r>
              <a:rPr lang="en-US" dirty="0"/>
              <a:t>This is against copyright laws and is a computer crime.</a:t>
            </a:r>
          </a:p>
          <a:p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hand clapping">
            <a:extLst>
              <a:ext uri="{FF2B5EF4-FFF2-40B4-BE49-F238E27FC236}">
                <a16:creationId xmlns=""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le 13">
            <a:extLst>
              <a:ext uri="{FF2B5EF4-FFF2-40B4-BE49-F238E27FC236}">
                <a16:creationId xmlns=""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=""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0_Bright business presentation_AAS_v3" id="{57D58BC9-3F05-45D4-81CD-7BA898B4CAAD}" vid="{0F92AA19-00D6-4C71-B13F-219D7994A0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90D0D0-7C1D-47FF-A2F0-9937AA567A3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EDB5DD7-8DCC-4069-9EB3-5D09818665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Bright business presentation</Template>
  <TotalTime>0</TotalTime>
  <Words>216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Candara</vt:lpstr>
      <vt:lpstr>Corbel</vt:lpstr>
      <vt:lpstr>Times New Roman</vt:lpstr>
      <vt:lpstr>Office Theme</vt:lpstr>
      <vt:lpstr>Computer Crimes </vt:lpstr>
      <vt:lpstr>Vision </vt:lpstr>
      <vt:lpstr>Purpose:</vt:lpstr>
      <vt:lpstr>Key Points</vt:lpstr>
      <vt:lpstr>Examples: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 and fraud</dc:title>
  <dc:creator/>
  <cp:lastModifiedBy/>
  <cp:revision>1</cp:revision>
  <dcterms:created xsi:type="dcterms:W3CDTF">2026-04-12T14:38:04Z</dcterms:created>
  <dcterms:modified xsi:type="dcterms:W3CDTF">2026-04-12T15:45:32Z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